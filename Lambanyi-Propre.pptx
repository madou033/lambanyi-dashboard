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783080"/>
            <a:ext cx="118872" cy="274320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9264" y="1581912"/>
            <a:ext cx="118872" cy="475488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" y="1709928"/>
            <a:ext cx="118872" cy="347472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53312" y="1380744"/>
            <a:ext cx="118872" cy="676656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45336" y="1636776"/>
            <a:ext cx="118872" cy="420624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37360" y="1188720"/>
            <a:ext cx="118872" cy="86868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29384" y="1490472"/>
            <a:ext cx="118872" cy="566928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21408" y="1005840"/>
            <a:ext cx="118872" cy="105156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13432" y="1325880"/>
            <a:ext cx="118872" cy="73152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05456" y="822960"/>
            <a:ext cx="118872" cy="123444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300">
                <a:solidFill>
                  <a:srgbClr val="83AF99"/>
                </a:solidFill>
                <a:latin typeface="Segoe UI"/>
              </a:rPr>
              <a:t>REGION DE CONAKRY  ·  COMMUNE DE LAMBANYI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1063721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0" i="0">
                <a:solidFill>
                  <a:srgbClr val="F1F2F3"/>
                </a:solidFill>
                <a:latin typeface="Georgia"/>
              </a:rPr>
              <a:t>Lambanyi Propre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50208"/>
            <a:ext cx="23774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B4B8BD"/>
                </a:solidFill>
                <a:latin typeface="Segoe UI"/>
              </a:rPr>
              <a:t>Le dispositif numérique de la collecte des ordures ménagères : un registre des foyers, une redevance qui rentre, un passage qui se prouve.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89788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08990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spc="150">
                <a:solidFill>
                  <a:srgbClr val="9AA0A6"/>
                </a:solidFill>
                <a:latin typeface="Segoe UI"/>
              </a:rPr>
              <a:t>Présentation du projet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055" y="60899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Consolas"/>
              </a:rPr>
              <a:t>9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Aujourd’hui, la collecte se pilote à l’aveugle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61288" y="2249424"/>
            <a:ext cx="118872" cy="11887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35608" y="2157984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Aucun registre des foyers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633472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On ne sait ni qui est desservi, ni combien de personnes vivent sous le toit, ni où se trouve la maison.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439" y="1792224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644487" y="2249424"/>
            <a:ext cx="118872" cy="11887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18807" y="2157984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La redevance ne rentre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633472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Pas d’échéancier, pas de relance, pas de trace des versements. Le manque à gagner ne se chiffre même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67328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161288" y="4224528"/>
            <a:ext cx="118872" cy="11887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8" y="4133088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passage n’est pas prouvé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608576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foyer dit qu’on n’est pas venu, le collecteur dit le contraire. Personne ne peut trancher.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3767328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644487" y="4224528"/>
            <a:ext cx="118872" cy="11887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8807" y="4133088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citoyen n’a pas de recours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4608576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Un dépôt sauvage se signale de bouche à oreille, remonte mal, et se perd avant d’être traité.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Lambanyi Propre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LA RÉPONSE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Une seule plateforme, trois métiers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76587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Le même socle de données sert le citoyen, le collecteur et la mairie. Ce que l’un déclare, l’autre le voit.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4708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57984"/>
            <a:ext cx="3362858" cy="3246120"/>
          </a:xfrm>
          <a:prstGeom prst="roundRect">
            <a:avLst>
              <a:gd name="adj" fmla="val 3098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" y="2542032"/>
            <a:ext cx="1371600" cy="3175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61488"/>
            <a:ext cx="2631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240">
                <a:solidFill>
                  <a:srgbClr val="83AF99"/>
                </a:solidFill>
                <a:latin typeface="Segoe UI"/>
              </a:rPr>
              <a:t>LE CITOYEN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72384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1F2F3"/>
                </a:solidFill>
                <a:latin typeface="Georgia"/>
              </a:rPr>
              <a:t>Application mobile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547872"/>
            <a:ext cx="2631338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767328"/>
            <a:ext cx="26313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Déclare son foyer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Choisit sa formule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Paie sa redevance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Signale un problème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Suit le traitement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4418" y="2157984"/>
            <a:ext cx="3362858" cy="3246120"/>
          </a:xfrm>
          <a:prstGeom prst="roundRect">
            <a:avLst>
              <a:gd name="adj" fmla="val 3098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80178" y="2542032"/>
            <a:ext cx="1371600" cy="31750"/>
          </a:xfrm>
          <a:prstGeom prst="rect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0178" y="2761488"/>
            <a:ext cx="2631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240">
                <a:solidFill>
                  <a:srgbClr val="35C9B1"/>
                </a:solidFill>
                <a:latin typeface="Segoe UI"/>
              </a:rPr>
              <a:t>LE COLLECTEUR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0178" y="3072384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1F2F3"/>
                </a:solidFill>
                <a:latin typeface="Georgia"/>
              </a:rPr>
              <a:t>La même application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80178" y="3547872"/>
            <a:ext cx="2631338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0178" y="3767328"/>
            <a:ext cx="26313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Voit sa tournée du jour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Scanne le code du foyer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Pointe chaque passage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Déclare son déversement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Remonte le terrain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1596" y="2157984"/>
            <a:ext cx="3362858" cy="3246120"/>
          </a:xfrm>
          <a:prstGeom prst="roundRect">
            <a:avLst>
              <a:gd name="adj" fmla="val 3098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417356" y="2542032"/>
            <a:ext cx="1371600" cy="31750"/>
          </a:xfrm>
          <a:prstGeom prst="rect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7356" y="2761488"/>
            <a:ext cx="2631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240">
                <a:solidFill>
                  <a:srgbClr val="7BBBE4"/>
                </a:solidFill>
                <a:latin typeface="Segoe UI"/>
              </a:rPr>
              <a:t>LA MAIRIE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3072384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1F2F3"/>
                </a:solidFill>
                <a:latin typeface="Georgia"/>
              </a:rPr>
              <a:t>Back-office 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7356" y="3547872"/>
            <a:ext cx="2631338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7356" y="3767328"/>
            <a:ext cx="26313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Tient le registre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Affecte les périmètres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Suit le recouvrement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Traite les signalements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Pilote sur des chiffres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Lambanyi Propre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PARCOURS CITOYEN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Le service dans la poche de l’habitant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1792224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déclare son foyer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837944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Quartier, point de repère, nombre de personnes, position GPS. Le foyer reçoit un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04872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578608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choisit sa formule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624328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La grille tarifaire de sa commune, selon le type de foyer. Le premier mois est au prorata.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9125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1985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36499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paie par Orange 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410712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Reçu horodaté, historique de ses versements, solde dû toujours visible.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97764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4151376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signale un problème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197096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Dépôt sauvage, bac plein, passage manqué — avec photo et position. Même sans compte.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764024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9262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8" y="4937760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suit le traitement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983480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Son signalement porte un statut et une frise, jusqu’à la résolution.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Lambanyi Propre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PARCOURS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Le collecteur prouve son passage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92224"/>
            <a:ext cx="5956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1F2F3"/>
                </a:solidFill>
                <a:latin typeface="Georgia"/>
              </a:rPr>
              <a:t>Sa tournée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591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quartier, la liste des foyers à desservir, et la progression en clair.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706624"/>
            <a:ext cx="5591080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9504"/>
            <a:ext cx="5956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1F2F3"/>
                </a:solidFill>
                <a:latin typeface="Georgia"/>
              </a:rPr>
              <a:t>Le foyer se scanne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55264"/>
            <a:ext cx="5591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Chaque ménage porte un code QR imprimé. Le pointage est daté, situé et attribué.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803904"/>
            <a:ext cx="5591080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86784"/>
            <a:ext cx="5956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1F2F3"/>
                </a:solidFill>
                <a:latin typeface="Georgia"/>
              </a:rPr>
              <a:t>Le déversement se déclare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52544"/>
            <a:ext cx="5591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Au point de dépôt : nombre de charrettes, photo, position relevée automatiquement.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6960" y="1792224"/>
            <a:ext cx="4497494" cy="1481328"/>
          </a:xfrm>
          <a:prstGeom prst="roundRect">
            <a:avLst>
              <a:gd name="adj" fmla="val 6790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01008" y="2103120"/>
            <a:ext cx="37293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240">
                <a:solidFill>
                  <a:srgbClr val="9AA0A6"/>
                </a:solidFill>
                <a:latin typeface="Segoe UI"/>
              </a:rPr>
              <a:t>PROGRESSION DE LA TOURNÉE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1008" y="2432304"/>
            <a:ext cx="37293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83AF99"/>
                </a:solidFill>
                <a:latin typeface="Consolas"/>
              </a:rPr>
              <a:t>7</a:t>
            </a:r>
            <a:r>
              <a:rPr sz="4000" b="0" i="0">
                <a:solidFill>
                  <a:srgbClr val="9AA0A6"/>
                </a:solidFill>
                <a:latin typeface="Consolas"/>
              </a:rPr>
              <a:t> /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2960" y="2724912"/>
            <a:ext cx="1845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foyers pointés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6960" y="3493008"/>
            <a:ext cx="4497494" cy="1481328"/>
          </a:xfrm>
          <a:prstGeom prst="roundRect">
            <a:avLst>
              <a:gd name="adj" fmla="val 6790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01008" y="3803904"/>
            <a:ext cx="37293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240">
                <a:solidFill>
                  <a:srgbClr val="9AA0A6"/>
                </a:solidFill>
                <a:latin typeface="Segoe UI"/>
              </a:rPr>
              <a:t>ÉCART GPS AU POINT DE DÉPÔT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1008" y="4133088"/>
            <a:ext cx="37293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F7B85"/>
                </a:solidFill>
                <a:latin typeface="Consolas"/>
              </a:rPr>
              <a:t>312</a:t>
            </a:r>
            <a:r>
              <a:rPr sz="4000" b="0" i="0">
                <a:solidFill>
                  <a:srgbClr val="9AA0A6"/>
                </a:solidFill>
                <a:latin typeface="Consolas"/>
              </a:rPr>
              <a:t>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2920" y="4443984"/>
            <a:ext cx="21657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au-delà de 200 m, signalé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5721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9AA0A6"/>
                </a:solidFill>
                <a:latin typeface="Segoe UI"/>
              </a:rPr>
              <a:t>Un déversement déclaré loin du point de dépôt réel se voit tout seul. Le contrôle ne repose plus sur la parole.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Lambanyi Propre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BACK-OFFICE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La commune pilote sur des chiffres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76587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Un seul outil web, ouvert au personnel communal. Douze modules, tous filtrables et exportables.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4708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57984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95528" y="2377440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Ménages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0662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 registre des foyers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123" y="2157984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523411" y="2377440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9443" y="2377440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Codes 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9443" y="270662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À imprimer et poser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57984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51295" y="2377440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377440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Collecteurs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70662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Les agents et leur activité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0891" y="2157984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979179" y="2377440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211" y="2377440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Tournées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211" y="270662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Planifiées et réalisées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291840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95528" y="3511296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511296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Points de dépôt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840480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 réseau, sur carte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123" y="3291840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523411" y="3511296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9443" y="3511296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Tarifs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9443" y="3840480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La grille de la commune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3291840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51295" y="3511296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7327" y="3511296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Paiements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3840480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Encaissements et impayés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0891" y="3291840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979179" y="3511296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211" y="3511296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Signalements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211" y="3840480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Reçus, affectés, résolus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42569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95528" y="464515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64515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4974336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Entreprises et périmètres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05123" y="442569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23411" y="464515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79443" y="464515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Quartiers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9443" y="4974336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 référentiel territorial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3007" y="442569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251295" y="464515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07327" y="464515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Paramètres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7327" y="4974336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Pénalités, échéances, seuils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0891" y="442569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979179" y="464515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211" y="464515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Communes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211" y="4974336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La vue régionale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Lambanyi Propre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CŒUR FINANCIER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La redevance devient traçable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76587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Le moteur de facturation tourne seul. La mairie n’a plus à tenir un cahier, elle a un tableau de recouvrement.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4708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276856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157984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L’échéance naît toute seule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468880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Chaque nuit, pour chaque abonnement actif, l’échéance du mois est posée.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61488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3008376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2889504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premier mois est au prorata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3200400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On ne fait pas payer un mois entier à qui souscrit le 22.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93008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739896"/>
            <a:ext cx="109728" cy="109728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621024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retard porte pénalité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931920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Gravée en base, annulable par la mairie, jamais recalculée dans le 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24528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4471416"/>
            <a:ext cx="109728" cy="109728"/>
          </a:xfrm>
          <a:prstGeom prst="ellipse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352544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versement s’impute seul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4663440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La plus ancienne échéance d’abord ; le trop-perçu devient une avance.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956048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5202936"/>
            <a:ext cx="109728" cy="109728"/>
          </a:xfrm>
          <a:prstGeom prst="ellipse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5084064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recouvrement se 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5394960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Qui doit quoi, depuis quand, par quartier et par foyer.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489" y="2157984"/>
            <a:ext cx="3751966" cy="3218688"/>
          </a:xfrm>
          <a:prstGeom prst="roundRect">
            <a:avLst>
              <a:gd name="adj" fmla="val 3125"/>
            </a:avLst>
          </a:prstGeom>
          <a:solidFill>
            <a:srgbClr val="22252A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249" y="2487168"/>
            <a:ext cx="30204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240">
                <a:solidFill>
                  <a:srgbClr val="9AA0A6"/>
                </a:solidFill>
                <a:latin typeface="Segoe UI"/>
              </a:rPr>
              <a:t>CE QUE LA MAIRIE VOIT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8249" y="2816352"/>
            <a:ext cx="3020446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249" y="3108960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Foyers à jour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1375" y="3035808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35C9B1"/>
                </a:solidFill>
                <a:latin typeface="Consolas"/>
              </a:rPr>
              <a:t>184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249" y="3657600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Foyers en retard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1375" y="3584448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E8B957"/>
                </a:solidFill>
                <a:latin typeface="Consolas"/>
              </a:rPr>
              <a:t>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249" y="4206240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Encaissé ce mois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1375" y="4133088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83AF99"/>
                </a:solidFill>
                <a:latin typeface="Consolas"/>
              </a:rPr>
              <a:t>4,2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249" y="4754880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Reste à recouvrer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1375" y="4681728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FF7B85"/>
                </a:solidFill>
                <a:latin typeface="Consolas"/>
              </a:rPr>
              <a:t>890 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28249" y="4919472"/>
            <a:ext cx="3020446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8249" y="5047488"/>
            <a:ext cx="30204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Segoe UI"/>
              </a:rPr>
              <a:t>Montants en GNF · données d’illustration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Lambanyi Propre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CONFIANCE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Chacun ne voit que ce qui le regarde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5154015" cy="1737360"/>
          </a:xfrm>
          <a:prstGeom prst="roundRect">
            <a:avLst>
              <a:gd name="adj" fmla="val 5789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61288" y="2103120"/>
            <a:ext cx="43859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cloisonnement est dans la base, pas dans l’écran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1288" y="2724912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889504"/>
            <a:ext cx="43859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Les droits sont appliqués par le serveur de données lui-même. Un compte qui contournerait l’application se ferait refuser la requête, ligne par ligne.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439" y="1792224"/>
            <a:ext cx="5154015" cy="1737360"/>
          </a:xfrm>
          <a:prstGeom prst="roundRect">
            <a:avLst>
              <a:gd name="adj" fmla="val 5789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44487" y="2103120"/>
            <a:ext cx="43859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À chacun son périmètre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4487" y="2724912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487" y="2889504"/>
            <a:ext cx="43859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Un citoyen ne voit que son foyer. Un collecteur, que ses tournées. Un gérant, que ses quartiers. Une mairie, que sa commune.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85616"/>
            <a:ext cx="5154015" cy="1737360"/>
          </a:xfrm>
          <a:prstGeom prst="roundRect">
            <a:avLst>
              <a:gd name="adj" fmla="val 5789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61288" y="4096512"/>
            <a:ext cx="43859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Rien ne se modifie à la 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1288" y="4718304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882896"/>
            <a:ext cx="43859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Chaque évolution de la base est un fichier daté, relu et rejouable. L’historique dit qui a changé quoi, quand et pourquoi.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3785616"/>
            <a:ext cx="5154015" cy="1737360"/>
          </a:xfrm>
          <a:prstGeom prst="roundRect">
            <a:avLst>
              <a:gd name="adj" fmla="val 5789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4487" y="4096512"/>
            <a:ext cx="43859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Les règles d’argent sont testées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44487" y="4718304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4487" y="4882896"/>
            <a:ext cx="43859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Prorata, pénalités, imputation des versements, isolation entre communes : des tests automatisés les vérifient avant chaque mise en ligne.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Lambanyi Propre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PASSAGE À L’ÉCHELLE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Conçu pour les treize communes de Conakry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76587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Depuis la loi L/2024/003/CNT, la région compte treize communes. Lambanyi en est une — pas un cas particulier.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4708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57984"/>
            <a:ext cx="4893118" cy="749808"/>
          </a:xfrm>
          <a:prstGeom prst="roundRect">
            <a:avLst>
              <a:gd name="adj" fmla="val 1341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95528" y="2322576"/>
            <a:ext cx="31750" cy="420624"/>
          </a:xfrm>
          <a:prstGeom prst="rect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304288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gouvernorat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596896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Lit et agrège les treize communes. N’écrit rien.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3799" y="2944368"/>
            <a:ext cx="19050" cy="329184"/>
          </a:xfrm>
          <a:prstGeom prst="rect">
            <a:avLst/>
          </a:prstGeom>
          <a:solidFill>
            <a:srgbClr val="424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310128"/>
            <a:ext cx="4893118" cy="749808"/>
          </a:xfrm>
          <a:prstGeom prst="roundRect">
            <a:avLst>
              <a:gd name="adj" fmla="val 1341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95528" y="3474720"/>
            <a:ext cx="31750" cy="420624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456432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La mairie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749040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Écrit le quotidien de sa commune, et d’elle seule.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799" y="4096512"/>
            <a:ext cx="19050" cy="329184"/>
          </a:xfrm>
          <a:prstGeom prst="rect">
            <a:avLst/>
          </a:prstGeom>
          <a:solidFill>
            <a:srgbClr val="424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462272"/>
            <a:ext cx="4893118" cy="749808"/>
          </a:xfrm>
          <a:prstGeom prst="roundRect">
            <a:avLst>
              <a:gd name="adj" fmla="val 1341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95528" y="4626864"/>
            <a:ext cx="31750" cy="420624"/>
          </a:xfrm>
          <a:prstGeom prst="rect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608576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La PME de collecte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901184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Travaille ses quartiers, à cheval sur plusieurs communes.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0438" y="2176272"/>
            <a:ext cx="510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240">
                <a:solidFill>
                  <a:srgbClr val="9AA0A6"/>
                </a:solidFill>
                <a:latin typeface="Segoe UI"/>
              </a:rPr>
              <a:t>LES TREIZE COMMUNES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0438" y="2468880"/>
            <a:ext cx="5104016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0438" y="2651760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Kaloum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1777" y="2651760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Dixinn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3116" y="2651760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Matam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0438" y="2962656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Kassa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1777" y="2962656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Ratoma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3116" y="2962656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83AF99"/>
                </a:solidFill>
                <a:latin typeface="Segoe UI"/>
              </a:rPr>
              <a:t>Lambanyi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0438" y="3273552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Sonfonia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777" y="3273552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Matoto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3116" y="3273552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Gbéssia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0438" y="3584448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Tombolia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1777" y="3584448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Kagbélen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3116" y="3584448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Sanoyah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0438" y="3895344"/>
            <a:ext cx="16098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Manéah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10438" y="4206240"/>
            <a:ext cx="5104016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0438" y="4425696"/>
            <a:ext cx="51040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Le produit n’est pas « l’application de Lambanyi » : Lambanyi est un cas de l’application. Une autre région ? On déploie la même instance. Rien à réécrire.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Lambanyi Propre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ÉTAT D’AVANCEMENT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Ce qui est déjà construit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92224"/>
            <a:ext cx="10637215" cy="12700"/>
          </a:xfrm>
          <a:prstGeom prst="rect">
            <a:avLst/>
          </a:prstGeom>
          <a:solidFill>
            <a:srgbClr val="424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084832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743200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8125" y="2084832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8125" y="2743200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évolutions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de la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0109" y="2066544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994" y="2084832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994" y="2743200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tables de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données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2978" y="2066544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3863" y="2084832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2743200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écrans de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back-office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2066544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6732" y="2084832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6732" y="2743200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suites de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8716" y="2066544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9601" y="2084832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209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9601" y="2743200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contributions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versionnées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1585" y="2066544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310128"/>
            <a:ext cx="10637215" cy="12700"/>
          </a:xfrm>
          <a:prstGeom prst="rect">
            <a:avLst/>
          </a:prstGeom>
          <a:solidFill>
            <a:srgbClr val="424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3758184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36576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L’application mobile est compilée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675888"/>
            <a:ext cx="5973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Installable sur téléphone Android depuis le 8 septembre 2026. Les trois rôles — citoyen, collecteur, gérant — sont utilisables de bout en bout.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" y="4672584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45720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back-office web tourne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4590288"/>
            <a:ext cx="5973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Les douze modules sont ouverts, filtrables, exportables. La navigation s’adapte automatiquement au rôle du compte connecté.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5586984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" y="54864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La base porte déjà la région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5504688"/>
            <a:ext cx="5973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Les treize communes, leur référentiel de quartiers issu des listes officielles, et le cloisonnement entre elles.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Lambanyi Propre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AVANT LE DÉPLOIEMENT RÉEL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Ce qu’il reste à faire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76587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Rien de tout cela n’est une inconnue technique : ce sont des branchements et des décisions, pas des recherches.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4708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E8B957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57984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Brancher la vraie API Orange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176272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parcours de paiement est complet de bout en bout, mais la confirmation est aujourd’hui simulée. La bascule vers l’opérateur est déjà prévue dans le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2608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45536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E8B957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27248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pointage hors réseau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145536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collecteur travaille dans des zones sans couverture. Aujourd’hui un pointage émis sans réseau échoue : la file d’attente locale reste à écrire.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95344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7BBBE4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96512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référentiel de deux communes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114800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Kagbélen et Sanoyah attendent un arrêté officiel listant leurs quartiers. On ne fabrique pas de découpage administratif.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6460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7BBBE4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065776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déploiement et la 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5084064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Comptes de la mairie, saisie des points de dépôt réels, impression des codes QR, formation des agents de collecte.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Lambanyi Propre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300">
                <a:solidFill>
                  <a:srgbClr val="83AF99"/>
                </a:solidFill>
                <a:latin typeface="Segoe UI"/>
              </a:rPr>
              <a:t>CE QUE CELA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33856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F1F2F3"/>
                </a:solidFill>
                <a:latin typeface="Georgia"/>
              </a:rPr>
              <a:t>Une commune qui sait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95728"/>
            <a:ext cx="1097280" cy="3175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15184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F2F3"/>
                </a:solidFill>
                <a:latin typeface="Georgia"/>
              </a:rPr>
              <a:t>La recette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45536"/>
            <a:ext cx="31037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Chaque foyer porte une échéance. Chaque versement laisse une trace. Le manque à gagner se chiffre, et se recouvre.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395728"/>
            <a:ext cx="1097280" cy="31750"/>
          </a:xfrm>
          <a:prstGeom prst="rect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615184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F2F3"/>
                </a:solidFill>
                <a:latin typeface="Georgia"/>
              </a:rPr>
              <a:t>Le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3145536"/>
            <a:ext cx="31037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Chaque passage est prouvé. Chaque signalement est suivi jusqu’à sa résolution. Le citoyen a un recours.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2076" y="2395728"/>
            <a:ext cx="1097280" cy="31750"/>
          </a:xfrm>
          <a:prstGeom prst="rect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2076" y="2615184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F2F3"/>
                </a:solidFill>
                <a:latin typeface="Georgia"/>
              </a:rPr>
              <a:t>La décision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2076" y="3145536"/>
            <a:ext cx="31037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Le pilotage se fait sur des chiffres remontés du terrain, pas sur des impressions ni des déclarations.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66344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83AF99"/>
                </a:solidFill>
                <a:latin typeface="Georgia"/>
              </a:rPr>
              <a:t>Lambanyi Propre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4B8BD"/>
                </a:solidFill>
                <a:latin typeface="Segoe UI"/>
              </a:rPr>
              <a:t>Région de Conakry · 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