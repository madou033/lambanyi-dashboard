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783080"/>
            <a:ext cx="118872" cy="274320"/>
          </a:xfrm>
          <a:prstGeom prst="rect">
            <a:avLst/>
          </a:prstGeom>
          <a:solidFill>
            <a:srgbClr val="50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9264" y="1581912"/>
            <a:ext cx="118872" cy="475488"/>
          </a:xfrm>
          <a:prstGeom prst="rect">
            <a:avLst/>
          </a:prstGeom>
          <a:solidFill>
            <a:srgbClr val="50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1288" y="1709928"/>
            <a:ext cx="118872" cy="347472"/>
          </a:xfrm>
          <a:prstGeom prst="rect">
            <a:avLst/>
          </a:prstGeom>
          <a:solidFill>
            <a:srgbClr val="50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53312" y="1380744"/>
            <a:ext cx="118872" cy="676656"/>
          </a:xfrm>
          <a:prstGeom prst="rect">
            <a:avLst/>
          </a:prstGeom>
          <a:solidFill>
            <a:srgbClr val="50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45336" y="1636776"/>
            <a:ext cx="118872" cy="420624"/>
          </a:xfrm>
          <a:prstGeom prst="rect">
            <a:avLst/>
          </a:prstGeom>
          <a:solidFill>
            <a:srgbClr val="50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37360" y="1188720"/>
            <a:ext cx="118872" cy="868680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29384" y="1490472"/>
            <a:ext cx="118872" cy="566928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21408" y="1005840"/>
            <a:ext cx="118872" cy="1051560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3432" y="1325880"/>
            <a:ext cx="118872" cy="731520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05456" y="822960"/>
            <a:ext cx="118872" cy="1234440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95728"/>
            <a:ext cx="1063721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 spc="300">
                <a:solidFill>
                  <a:srgbClr val="83AF99"/>
                </a:solidFill>
                <a:latin typeface="Segoe UI"/>
              </a:rPr>
              <a:t>RÉGION DE CONAKRY  ·  COMMUNE PILOTE DE LAMBANYI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1063721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0" i="0">
                <a:solidFill>
                  <a:srgbClr val="F1F2F3"/>
                </a:solidFill>
                <a:latin typeface="Georgia"/>
              </a:rPr>
              <a:t>SICOD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50208"/>
            <a:ext cx="2377440" cy="25400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24528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B4B8BD"/>
                </a:solidFill>
                <a:latin typeface="Segoe UI"/>
              </a:rPr>
              <a:t>Système intégré de collecte et d’optimisation de déchets : un registre des foyers, une redevance qui rentre, un passage qui se prouve.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897880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08990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spc="150">
                <a:solidFill>
                  <a:srgbClr val="9AA0A6"/>
                </a:solidFill>
                <a:latin typeface="Segoe UI"/>
              </a:rPr>
              <a:t>Présentation du projet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4055" y="60899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Consolas"/>
              </a:rPr>
              <a:t>13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LE CONSTAT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Aujourd’hui, la collecte se pilote à l’aveugle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92224"/>
            <a:ext cx="5154015" cy="1700784"/>
          </a:xfrm>
          <a:prstGeom prst="roundRect">
            <a:avLst>
              <a:gd name="adj" fmla="val 5913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61288" y="2249424"/>
            <a:ext cx="118872" cy="118872"/>
          </a:xfrm>
          <a:prstGeom prst="ellipse">
            <a:avLst/>
          </a:prstGeom>
          <a:solidFill>
            <a:srgbClr val="E8B9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35608" y="2157984"/>
            <a:ext cx="41481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Aucun registre des foyers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2633472"/>
            <a:ext cx="4385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On ne sait ni qui est desservi, ni combien de personnes vivent sous le toit, ni où se trouve la maison.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0439" y="1792224"/>
            <a:ext cx="5154015" cy="1700784"/>
          </a:xfrm>
          <a:prstGeom prst="roundRect">
            <a:avLst>
              <a:gd name="adj" fmla="val 5913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644487" y="2249424"/>
            <a:ext cx="118872" cy="118872"/>
          </a:xfrm>
          <a:prstGeom prst="ellipse">
            <a:avLst/>
          </a:prstGeom>
          <a:solidFill>
            <a:srgbClr val="FF7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8807" y="2157984"/>
            <a:ext cx="41481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La redevance ne rentre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633472"/>
            <a:ext cx="4385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Pas d’échéancier, pas de relance, pas de trace des versements. Le manque à gagner ne se chiffre même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67328"/>
            <a:ext cx="5154015" cy="1700784"/>
          </a:xfrm>
          <a:prstGeom prst="roundRect">
            <a:avLst>
              <a:gd name="adj" fmla="val 5913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61288" y="4224528"/>
            <a:ext cx="118872" cy="118872"/>
          </a:xfrm>
          <a:prstGeom prst="ellipse">
            <a:avLst/>
          </a:prstGeom>
          <a:solidFill>
            <a:srgbClr val="E8B9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5608" y="4133088"/>
            <a:ext cx="41481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Le passage n’est pas prouvé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4608576"/>
            <a:ext cx="4385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Le foyer dit qu’on n’est pas venu, le collecteur dit le contraire. Personne ne peut trancher.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0439" y="3767328"/>
            <a:ext cx="5154015" cy="1700784"/>
          </a:xfrm>
          <a:prstGeom prst="roundRect">
            <a:avLst>
              <a:gd name="adj" fmla="val 5913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644487" y="4224528"/>
            <a:ext cx="118872" cy="118872"/>
          </a:xfrm>
          <a:prstGeom prst="ellipse">
            <a:avLst/>
          </a:prstGeom>
          <a:solidFill>
            <a:srgbClr val="FF7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8807" y="4133088"/>
            <a:ext cx="41481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Le citoyen n’a pas de recours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4487" y="4608576"/>
            <a:ext cx="4385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Un dépôt sauvage se signale de bouche à oreille, remonte mal, et se perd avant d’être traité.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LA RÉPONSE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Une seule plateforme, trois métiers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4B8BD"/>
                </a:solidFill>
                <a:latin typeface="Segoe UI"/>
              </a:rPr>
              <a:t>Le même socle de données sert le citoyen, le collecteur et la mairie. Ce que l’un déclare, l’autre le voit.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85416"/>
            <a:ext cx="3362858" cy="3566160"/>
          </a:xfrm>
          <a:prstGeom prst="roundRect">
            <a:avLst>
              <a:gd name="adj" fmla="val 2991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43000" y="2569464"/>
            <a:ext cx="1371600" cy="31750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788920"/>
            <a:ext cx="26313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 spc="240">
                <a:solidFill>
                  <a:srgbClr val="83AF99"/>
                </a:solidFill>
                <a:latin typeface="Segoe UI"/>
              </a:rPr>
              <a:t>LE CITOYEN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099816"/>
            <a:ext cx="2631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F1F2F3"/>
                </a:solidFill>
                <a:latin typeface="Georgia"/>
              </a:rPr>
              <a:t>Application mobile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575304"/>
            <a:ext cx="2631338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794760"/>
            <a:ext cx="263133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Déclare son foyer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Choisit sa formule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Paie sa redevance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Signale un problème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Suit le traitement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4418" y="2185416"/>
            <a:ext cx="3362858" cy="3566160"/>
          </a:xfrm>
          <a:prstGeom prst="roundRect">
            <a:avLst>
              <a:gd name="adj" fmla="val 2991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780178" y="2569464"/>
            <a:ext cx="1371600" cy="31750"/>
          </a:xfrm>
          <a:prstGeom prst="rect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0178" y="2788920"/>
            <a:ext cx="26313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 spc="240">
                <a:solidFill>
                  <a:srgbClr val="35C9B1"/>
                </a:solidFill>
                <a:latin typeface="Segoe UI"/>
              </a:rPr>
              <a:t>LE COLLECTEUR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0178" y="3099816"/>
            <a:ext cx="2631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F1F2F3"/>
                </a:solidFill>
                <a:latin typeface="Georgia"/>
              </a:rPr>
              <a:t>La même application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80178" y="3575304"/>
            <a:ext cx="2631338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0178" y="3794760"/>
            <a:ext cx="263133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Voit sa tournée du jour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Scanne le code du foyer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Pointe chaque passage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Déclare son déversement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Remonte le terrain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185416"/>
            <a:ext cx="3362858" cy="3566160"/>
          </a:xfrm>
          <a:prstGeom prst="roundRect">
            <a:avLst>
              <a:gd name="adj" fmla="val 2991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417356" y="2569464"/>
            <a:ext cx="1371600" cy="31750"/>
          </a:xfrm>
          <a:prstGeom prst="rect">
            <a:avLst/>
          </a:prstGeom>
          <a:solidFill>
            <a:srgbClr val="7BB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2788920"/>
            <a:ext cx="26313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 spc="240">
                <a:solidFill>
                  <a:srgbClr val="7BBBE4"/>
                </a:solidFill>
                <a:latin typeface="Segoe UI"/>
              </a:rPr>
              <a:t>LA MAIRIE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3099816"/>
            <a:ext cx="2631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F1F2F3"/>
                </a:solidFill>
                <a:latin typeface="Georgia"/>
              </a:rPr>
              <a:t>Back-office web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7356" y="3575304"/>
            <a:ext cx="2631338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7356" y="3794760"/>
            <a:ext cx="263133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Tient le registre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Affecte les périmètres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Suit le recouvrement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Traite les signalements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50" b="0" i="0">
                <a:solidFill>
                  <a:srgbClr val="B4B8BD"/>
                </a:solidFill>
                <a:latin typeface="Segoe UI"/>
              </a:rPr>
              <a:t>—  Pilote sur des chiffres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PARCOURS CITOYEN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Le service dans la poche de l’habitant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48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i="0">
                <a:solidFill>
                  <a:srgbClr val="83AF99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792224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Il déclare son foyer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837944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Quartier, point de repère, nombre de personnes, position GPS. Le foyer reçoit un code.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404872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42032"/>
            <a:ext cx="548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i="0">
                <a:solidFill>
                  <a:srgbClr val="83AF99"/>
                </a:solidFill>
                <a:latin typeface="Consola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578608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Il choisit sa formule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624328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La grille tarifaire de sa commune, selon le type de foyer. Le premier mois est au prorata.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9125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28416"/>
            <a:ext cx="548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i="0">
                <a:solidFill>
                  <a:srgbClr val="83AF99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36499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Il paie par Orange Money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341071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Reçu horodaté, historique de ses versements, solde dû toujours visible.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977640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14800"/>
            <a:ext cx="548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i="0">
                <a:solidFill>
                  <a:srgbClr val="83AF99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151376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Il signale un problème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4197096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Dépôt sauvage, bac plein, passage manqué — avec photo et position. Même sans compte.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764024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01184"/>
            <a:ext cx="548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i="0">
                <a:solidFill>
                  <a:srgbClr val="83AF99"/>
                </a:solidFill>
                <a:latin typeface="Consola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35608" y="4937760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Il suit le traitement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4983480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Son signalement porte un statut et une frise, jusqu’à la résolution.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L’APPLICATION, CÔTÉ CITOYEN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94944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F1F2F3"/>
                </a:solidFill>
                <a:latin typeface="Georgia"/>
              </a:rPr>
              <a:t>Déclarer son foyer, choisir, payer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2529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463040"/>
            <a:ext cx="1645920" cy="3412915"/>
          </a:xfrm>
          <a:prstGeom prst="roundRect">
            <a:avLst>
              <a:gd name="adj" fmla="val 9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itoyen-profil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41248" y="1527048"/>
            <a:ext cx="1517904" cy="32848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031403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5049691"/>
            <a:ext cx="2972714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Le foyer a une identité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5351443"/>
            <a:ext cx="297271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Code LAM-00001, quartier, point de repère, nombre de personnes. Le taux de remplissage du profil pousse à compléter.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4898" y="1463040"/>
            <a:ext cx="1645920" cy="3412915"/>
          </a:xfrm>
          <a:prstGeom prst="roundRect">
            <a:avLst>
              <a:gd name="adj" fmla="val 9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citoyen-formules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08906" y="1527048"/>
            <a:ext cx="1517904" cy="32848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44898" y="5031403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4082" y="5049691"/>
            <a:ext cx="2972714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La grille de sa commune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4082" y="5351443"/>
            <a:ext cx="297271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Les formules résidentielles, avec le prix au mois et au jour. Le choix engage un abonnement, pas une simple déclaration.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463040"/>
            <a:ext cx="1645920" cy="3412915"/>
          </a:xfrm>
          <a:prstGeom prst="roundRect">
            <a:avLst>
              <a:gd name="adj" fmla="val 9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citoyen-retard-abonnement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176564" y="1527048"/>
            <a:ext cx="1517904" cy="32848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12556" y="5031403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1740" y="5049691"/>
            <a:ext cx="2972714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Ce qu’il doit, sans ambiguïté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1740" y="5351443"/>
            <a:ext cx="297271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Un mois en retard : solde dû, pénalité incluse, et un seul bouton. Dessous, chaque échéance passée et son état.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L’APPLICATION, CÔTÉ CITOYEN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94944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F1F2F3"/>
                </a:solidFill>
                <a:latin typeface="Georgia"/>
              </a:rPr>
              <a:t>Payer, signaler, suivre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2529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463040"/>
            <a:ext cx="1645920" cy="3412915"/>
          </a:xfrm>
          <a:prstGeom prst="roundRect">
            <a:avLst>
              <a:gd name="adj" fmla="val 9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itoyen-retard-paiement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41248" y="1527048"/>
            <a:ext cx="1517904" cy="32848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031403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5049691"/>
            <a:ext cx="2972714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Orange Money, dans l’application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5351443"/>
            <a:ext cx="297271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Le montant est pré-rempli depuis l’échéance. La confirmation arrive sur le téléphone ; le reçu est horodaté et conservé.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4898" y="1463040"/>
            <a:ext cx="1645920" cy="3412915"/>
          </a:xfrm>
          <a:prstGeom prst="roundRect">
            <a:avLst>
              <a:gd name="adj" fmla="val 9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citoyen-signale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08906" y="1527048"/>
            <a:ext cx="1517904" cy="32848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44898" y="5031403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4082" y="5049691"/>
            <a:ext cx="2972714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Un signalement en cinq gestes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4082" y="5351443"/>
            <a:ext cx="297271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Type de problème, commune, quartier, photo, position. Ouvert même sans compte : on n’exige un compte qu’à l’envoi.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463040"/>
            <a:ext cx="1645920" cy="3412915"/>
          </a:xfrm>
          <a:prstGeom prst="roundRect">
            <a:avLst>
              <a:gd name="adj" fmla="val 9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citoyen-suivi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176564" y="1527048"/>
            <a:ext cx="1517904" cy="32848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12556" y="5031403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1740" y="5049691"/>
            <a:ext cx="2972714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Et ce qu’il en advient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1740" y="5351443"/>
            <a:ext cx="297271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Chaque signalement porte un statut. Le citoyen voit s’il est nouveau, pris en charge ou résolu — il n’a plus à rappeler.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PARCOURS TERRAIN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Le collecteur prouve son passage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92224"/>
            <a:ext cx="5956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F1F2F3"/>
                </a:solidFill>
                <a:latin typeface="Georgia"/>
              </a:rPr>
              <a:t>Sa tournée du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591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Le quartier, la liste des foyers à desservir, et la progression en clair.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816352"/>
            <a:ext cx="5591080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80944"/>
            <a:ext cx="5956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F1F2F3"/>
                </a:solidFill>
                <a:latin typeface="Georgia"/>
              </a:rPr>
              <a:t>Le foyer se scanne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46704"/>
            <a:ext cx="5591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Chaque ménage porte un code QR imprimé. Le pointage est daté, situé et attribué.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05072"/>
            <a:ext cx="5591080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169664"/>
            <a:ext cx="5956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F1F2F3"/>
                </a:solidFill>
                <a:latin typeface="Georgia"/>
              </a:rPr>
              <a:t>Le déversement se déclare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35424"/>
            <a:ext cx="5591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Au point de dépôt : nombre de charrettes, photo, position relevée automatiquement.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16960" y="1792224"/>
            <a:ext cx="4497494" cy="1481328"/>
          </a:xfrm>
          <a:prstGeom prst="roundRect">
            <a:avLst>
              <a:gd name="adj" fmla="val 6790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01008" y="2103120"/>
            <a:ext cx="37293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240">
                <a:solidFill>
                  <a:srgbClr val="9AA0A6"/>
                </a:solidFill>
                <a:latin typeface="Segoe UI"/>
              </a:rPr>
              <a:t>PROGRESSION DE LA TOURNÉE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01008" y="2432304"/>
            <a:ext cx="37293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83AF99"/>
                </a:solidFill>
                <a:latin typeface="Consolas"/>
              </a:rPr>
              <a:t>7</a:t>
            </a:r>
            <a:r>
              <a:rPr sz="4000" b="0" i="0">
                <a:solidFill>
                  <a:srgbClr val="9AA0A6"/>
                </a:solidFill>
                <a:latin typeface="Consolas"/>
              </a:rPr>
              <a:t> /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2960" y="2724912"/>
            <a:ext cx="18457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foyers pointés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16960" y="3493008"/>
            <a:ext cx="4497494" cy="1481328"/>
          </a:xfrm>
          <a:prstGeom prst="roundRect">
            <a:avLst>
              <a:gd name="adj" fmla="val 6790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01008" y="3803904"/>
            <a:ext cx="37293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240">
                <a:solidFill>
                  <a:srgbClr val="9AA0A6"/>
                </a:solidFill>
                <a:latin typeface="Segoe UI"/>
              </a:rPr>
              <a:t>ÉCART GPS AU POINT DE DÉPÔT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1008" y="4133088"/>
            <a:ext cx="37293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7B85"/>
                </a:solidFill>
                <a:latin typeface="Consolas"/>
              </a:rPr>
              <a:t>312</a:t>
            </a:r>
            <a:r>
              <a:rPr sz="4000" b="0" i="0">
                <a:solidFill>
                  <a:srgbClr val="9AA0A6"/>
                </a:solidFill>
                <a:latin typeface="Consolas"/>
              </a:rPr>
              <a:t>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2920" y="4443984"/>
            <a:ext cx="21657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B4B8BD"/>
                </a:solidFill>
                <a:latin typeface="Segoe UI"/>
              </a:rPr>
              <a:t>au-delà de 200 m, signalé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76672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9AA0A6"/>
                </a:solidFill>
                <a:latin typeface="Segoe UI"/>
              </a:rPr>
              <a:t>Un déversement déclaré loin du point de dépôt réel se voit tout seul. Le contrôle ne repose plus sur la parole.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L’APPLICATION, CÔTÉ TERRAIN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94944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F1F2F3"/>
                </a:solidFill>
                <a:latin typeface="Georgia"/>
              </a:rPr>
              <a:t>Le collecteur et son gérant, dans la même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2529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463040"/>
            <a:ext cx="1645920" cy="3412915"/>
          </a:xfrm>
          <a:prstGeom prst="roundRect">
            <a:avLst>
              <a:gd name="adj" fmla="val 9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ollecteur-accueil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41248" y="1527048"/>
            <a:ext cx="1517904" cy="32848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031403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5049691"/>
            <a:ext cx="2972714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La journée du collecteur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5351443"/>
            <a:ext cx="297271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Sa tournée du jour : foyers à desservir, pointés, restants. Les signalements qu’on lui a affectés. Ses derniers déversements.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4898" y="1463040"/>
            <a:ext cx="1645920" cy="1901861"/>
          </a:xfrm>
          <a:prstGeom prst="roundRect">
            <a:avLst>
              <a:gd name="adj" fmla="val 9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collecteur-tournee.png"/>
          <p:cNvPicPr>
            <a:picLocks noChangeAspect="1"/>
          </p:cNvPicPr>
          <p:nvPr/>
        </p:nvPicPr>
        <p:blipFill>
          <a:blip r:embed="rId3"/>
          <a:srcRect b="46000"/>
          <a:stretch>
            <a:fillRect/>
          </a:stretch>
        </p:blipFill>
        <p:spPr>
          <a:xfrm>
            <a:off x="4508906" y="1527048"/>
            <a:ext cx="1517904" cy="17738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44898" y="5031403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4082" y="5049691"/>
            <a:ext cx="2972714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La tournée, quartier par quartier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4082" y="5351443"/>
            <a:ext cx="297271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Jeudi : trois tournées, une puce par quartier. La progression se remplit à chaque scan de code QR.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463040"/>
            <a:ext cx="1645920" cy="3412915"/>
          </a:xfrm>
          <a:prstGeom prst="roundRect">
            <a:avLst>
              <a:gd name="adj" fmla="val 9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gerant-activite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176564" y="1527048"/>
            <a:ext cx="1517904" cy="32848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12556" y="5031403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1740" y="5049691"/>
            <a:ext cx="2972714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Le gérant voit ses quartiers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1740" y="5351443"/>
            <a:ext cx="297271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Ménages, collecteurs, tournées, et la couverture des paiements — 40 % à jour ici. Il sait où envoyer ses agents.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BACK-OFFICE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La commune pilote sur des chiffres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4B8BD"/>
                </a:solidFill>
                <a:latin typeface="Segoe UI"/>
              </a:rPr>
              <a:t>Un seul outil web, ouvert au personnel communal. Douze modules, tous filtrables et exportables.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85416"/>
            <a:ext cx="2453563" cy="932688"/>
          </a:xfrm>
          <a:prstGeom prst="roundRect">
            <a:avLst>
              <a:gd name="adj" fmla="val 1078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95528" y="2404872"/>
            <a:ext cx="31750" cy="493776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0487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F1F2F3"/>
                </a:solidFill>
                <a:latin typeface="Georgia"/>
              </a:rPr>
              <a:t>Ménages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34056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Le registre des foyers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5123" y="2185416"/>
            <a:ext cx="2453563" cy="932688"/>
          </a:xfrm>
          <a:prstGeom prst="roundRect">
            <a:avLst>
              <a:gd name="adj" fmla="val 1078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523411" y="2404872"/>
            <a:ext cx="31750" cy="493776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9443" y="240487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F1F2F3"/>
                </a:solidFill>
                <a:latin typeface="Georgia"/>
              </a:rPr>
              <a:t>Codes QR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9443" y="2734056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À imprimer et poser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85416"/>
            <a:ext cx="2453563" cy="932688"/>
          </a:xfrm>
          <a:prstGeom prst="roundRect">
            <a:avLst>
              <a:gd name="adj" fmla="val 1078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51295" y="2404872"/>
            <a:ext cx="31750" cy="493776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7327" y="240487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F1F2F3"/>
                </a:solidFill>
                <a:latin typeface="Georgia"/>
              </a:rPr>
              <a:t>Collecteurs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2734056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Les agents et leur activité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0891" y="2185416"/>
            <a:ext cx="2453563" cy="932688"/>
          </a:xfrm>
          <a:prstGeom prst="roundRect">
            <a:avLst>
              <a:gd name="adj" fmla="val 1078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979179" y="2404872"/>
            <a:ext cx="31750" cy="493776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211" y="240487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F1F2F3"/>
                </a:solidFill>
                <a:latin typeface="Georgia"/>
              </a:rPr>
              <a:t>Tournées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211" y="2734056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Planifiées et réalisées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319272"/>
            <a:ext cx="2453563" cy="932688"/>
          </a:xfrm>
          <a:prstGeom prst="roundRect">
            <a:avLst>
              <a:gd name="adj" fmla="val 1078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795528" y="3538728"/>
            <a:ext cx="31750" cy="493776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538728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F1F2F3"/>
                </a:solidFill>
                <a:latin typeface="Georgia"/>
              </a:rPr>
              <a:t>Points de dépôt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867912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Le réseau, sur carte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5123" y="3319272"/>
            <a:ext cx="2453563" cy="932688"/>
          </a:xfrm>
          <a:prstGeom prst="roundRect">
            <a:avLst>
              <a:gd name="adj" fmla="val 1078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523411" y="3538728"/>
            <a:ext cx="31750" cy="493776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9443" y="3538728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F1F2F3"/>
                </a:solidFill>
                <a:latin typeface="Georgia"/>
              </a:rPr>
              <a:t>Tarifs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9443" y="3867912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La grille de la commune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3007" y="3319272"/>
            <a:ext cx="2453563" cy="932688"/>
          </a:xfrm>
          <a:prstGeom prst="roundRect">
            <a:avLst>
              <a:gd name="adj" fmla="val 1078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251295" y="3538728"/>
            <a:ext cx="31750" cy="493776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7327" y="3538728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F1F2F3"/>
                </a:solidFill>
                <a:latin typeface="Georgia"/>
              </a:rPr>
              <a:t>Paiements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7327" y="3867912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Encaissements et impayés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0891" y="3319272"/>
            <a:ext cx="2453563" cy="932688"/>
          </a:xfrm>
          <a:prstGeom prst="roundRect">
            <a:avLst>
              <a:gd name="adj" fmla="val 1078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8979179" y="3538728"/>
            <a:ext cx="31750" cy="493776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211" y="3538728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F1F2F3"/>
                </a:solidFill>
                <a:latin typeface="Georgia"/>
              </a:rPr>
              <a:t>Signalements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211" y="3867912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Reçus, affectés, résolus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453128"/>
            <a:ext cx="2453563" cy="932688"/>
          </a:xfrm>
          <a:prstGeom prst="roundRect">
            <a:avLst>
              <a:gd name="adj" fmla="val 1078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95528" y="4672584"/>
            <a:ext cx="31750" cy="493776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4672584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F1F2F3"/>
                </a:solidFill>
                <a:latin typeface="Georgia"/>
              </a:rPr>
              <a:t>PME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5001768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Entreprises et périmètres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05123" y="4453128"/>
            <a:ext cx="2453563" cy="932688"/>
          </a:xfrm>
          <a:prstGeom prst="roundRect">
            <a:avLst>
              <a:gd name="adj" fmla="val 1078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3523411" y="4672584"/>
            <a:ext cx="31750" cy="493776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79443" y="4672584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F1F2F3"/>
                </a:solidFill>
                <a:latin typeface="Georgia"/>
              </a:rPr>
              <a:t>Quartiers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79443" y="5001768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Le référentiel territorial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33007" y="4453128"/>
            <a:ext cx="2453563" cy="932688"/>
          </a:xfrm>
          <a:prstGeom prst="roundRect">
            <a:avLst>
              <a:gd name="adj" fmla="val 1078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251295" y="4672584"/>
            <a:ext cx="31750" cy="493776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07327" y="4672584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F1F2F3"/>
                </a:solidFill>
                <a:latin typeface="Georgia"/>
              </a:rPr>
              <a:t>Paramètres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07327" y="5001768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Pénalités, échéances, seuils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960891" y="4453128"/>
            <a:ext cx="2453563" cy="932688"/>
          </a:xfrm>
          <a:prstGeom prst="roundRect">
            <a:avLst>
              <a:gd name="adj" fmla="val 1078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8979179" y="4672584"/>
            <a:ext cx="31750" cy="493776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35211" y="4672584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F1F2F3"/>
                </a:solidFill>
                <a:latin typeface="Georgia"/>
              </a:rPr>
              <a:t>Communes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211" y="5001768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La vue régionale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LE BACK-OFFICE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La situation générale, en un écran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92224"/>
            <a:ext cx="7635240" cy="4041648"/>
          </a:xfrm>
          <a:prstGeom prst="roundRect">
            <a:avLst>
              <a:gd name="adj" fmla="val 2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86968" y="1874520"/>
            <a:ext cx="73152" cy="73152"/>
          </a:xfrm>
          <a:prstGeom prst="ellipse">
            <a:avLst/>
          </a:prstGeom>
          <a:solidFill>
            <a:srgbClr val="FF7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4128" y="1874520"/>
            <a:ext cx="73152" cy="73152"/>
          </a:xfrm>
          <a:prstGeom prst="ellipse">
            <a:avLst/>
          </a:prstGeom>
          <a:solidFill>
            <a:srgbClr val="E8B9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" y="1874520"/>
            <a:ext cx="73152" cy="73152"/>
          </a:xfrm>
          <a:prstGeom prst="ellipse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ue.png"/>
          <p:cNvPicPr>
            <a:picLocks noChangeAspect="1"/>
          </p:cNvPicPr>
          <p:nvPr/>
        </p:nvPicPr>
        <p:blipFill>
          <a:blip r:embed="rId2"/>
          <a:srcRect b="20292"/>
          <a:stretch>
            <a:fillRect/>
          </a:stretch>
        </p:blipFill>
        <p:spPr>
          <a:xfrm>
            <a:off x="832104" y="2029968"/>
            <a:ext cx="7525512" cy="3749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0" y="1828800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07424" y="1847088"/>
            <a:ext cx="2307031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Les chiffres du 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07424" y="2148840"/>
            <a:ext cx="230703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Ménages inscrits, abonnements actifs, signalements à traiter, passages du jour, encaissé ce mois. Le pouls de la commune.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12724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7424" y="3145536"/>
            <a:ext cx="2307031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Quatre actions, toujours à portée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424" y="3694176"/>
            <a:ext cx="230703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Inscrire un ménage, traiter un signalement, planifier une tournée, encaisser. Le travail quotidien, à un clic.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425696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424" y="4443984"/>
            <a:ext cx="2307031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Une navigation par métier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4745736"/>
            <a:ext cx="230703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Usagers, terrain, recouvrement, signalements, PME, administration. La barre s’adapte au rôle du compte.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LE BACK-OFFICE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Le registre des ménages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92224"/>
            <a:ext cx="7635240" cy="4041648"/>
          </a:xfrm>
          <a:prstGeom prst="roundRect">
            <a:avLst>
              <a:gd name="adj" fmla="val 2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86968" y="1874520"/>
            <a:ext cx="73152" cy="73152"/>
          </a:xfrm>
          <a:prstGeom prst="ellipse">
            <a:avLst/>
          </a:prstGeom>
          <a:solidFill>
            <a:srgbClr val="FF7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4128" y="1874520"/>
            <a:ext cx="73152" cy="73152"/>
          </a:xfrm>
          <a:prstGeom prst="ellipse">
            <a:avLst/>
          </a:prstGeom>
          <a:solidFill>
            <a:srgbClr val="E8B9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" y="1874520"/>
            <a:ext cx="73152" cy="73152"/>
          </a:xfrm>
          <a:prstGeom prst="ellipse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nages.png"/>
          <p:cNvPicPr>
            <a:picLocks noChangeAspect="1"/>
          </p:cNvPicPr>
          <p:nvPr/>
        </p:nvPicPr>
        <p:blipFill>
          <a:blip r:embed="rId2"/>
          <a:srcRect l="18600" b="35117"/>
          <a:stretch>
            <a:fillRect/>
          </a:stretch>
        </p:blipFill>
        <p:spPr>
          <a:xfrm>
            <a:off x="832104" y="2029968"/>
            <a:ext cx="7525512" cy="3749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0" y="1828800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07424" y="1847088"/>
            <a:ext cx="2307031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Le recouvrement, foyer par foyer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07424" y="2395728"/>
            <a:ext cx="230703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Créances ouvertes, foyers à jour, en dette, sans abonnement. Chaque ligne dit ce qu’elle doit et depuis quand.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127248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7424" y="3145536"/>
            <a:ext cx="2307031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Un foyer, un code, un point de repère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424" y="3694176"/>
            <a:ext cx="230703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LAM-00001, LAM-00002… Le code est imprimé sur le QR posé au domicile ; le repère guide le collecteur.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425696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424" y="4443984"/>
            <a:ext cx="2307031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Filtrable, exportable, imprimable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4992624"/>
            <a:ext cx="230703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Par quartier, par statut, par texte libre. L’export sert le trésorier ; l’impression sert la tournée.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LE BACK-OFFICE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Les encaissements et les tournées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92224"/>
            <a:ext cx="5135727" cy="3017520"/>
          </a:xfrm>
          <a:prstGeom prst="roundRect">
            <a:avLst>
              <a:gd name="adj" fmla="val 2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86968" y="1874520"/>
            <a:ext cx="73152" cy="73152"/>
          </a:xfrm>
          <a:prstGeom prst="ellipse">
            <a:avLst/>
          </a:prstGeom>
          <a:solidFill>
            <a:srgbClr val="FF7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4128" y="1874520"/>
            <a:ext cx="73152" cy="73152"/>
          </a:xfrm>
          <a:prstGeom prst="ellipse">
            <a:avLst/>
          </a:prstGeom>
          <a:solidFill>
            <a:srgbClr val="E8B9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" y="1874520"/>
            <a:ext cx="73152" cy="73152"/>
          </a:xfrm>
          <a:prstGeom prst="ellipse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iements.png"/>
          <p:cNvPicPr>
            <a:picLocks noChangeAspect="1"/>
          </p:cNvPicPr>
          <p:nvPr/>
        </p:nvPicPr>
        <p:blipFill>
          <a:blip r:embed="rId2"/>
          <a:srcRect l="18600" b="29389"/>
          <a:stretch>
            <a:fillRect/>
          </a:stretch>
        </p:blipFill>
        <p:spPr>
          <a:xfrm>
            <a:off x="832104" y="2029968"/>
            <a:ext cx="5025999" cy="2724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010912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5029200"/>
            <a:ext cx="48065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Le journal des encaissements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5330952"/>
            <a:ext cx="48065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Chaque paiement porte la période qu’il couvre, le mode et le statut. Le total encaissé, les pénalités perçues et les mois réglés se lisent en tête.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792224"/>
            <a:ext cx="5135727" cy="3017520"/>
          </a:xfrm>
          <a:prstGeom prst="roundRect">
            <a:avLst>
              <a:gd name="adj" fmla="val 2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388455" y="1874520"/>
            <a:ext cx="73152" cy="73152"/>
          </a:xfrm>
          <a:prstGeom prst="ellipse">
            <a:avLst/>
          </a:prstGeom>
          <a:solidFill>
            <a:srgbClr val="FF7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25615" y="1874520"/>
            <a:ext cx="73152" cy="73152"/>
          </a:xfrm>
          <a:prstGeom prst="ellipse">
            <a:avLst/>
          </a:prstGeom>
          <a:solidFill>
            <a:srgbClr val="E8B9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62775" y="1874520"/>
            <a:ext cx="73152" cy="73152"/>
          </a:xfrm>
          <a:prstGeom prst="ellipse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ournees.png"/>
          <p:cNvPicPr>
            <a:picLocks noChangeAspect="1"/>
          </p:cNvPicPr>
          <p:nvPr/>
        </p:nvPicPr>
        <p:blipFill>
          <a:blip r:embed="rId3"/>
          <a:srcRect l="18600" b="29389"/>
          <a:stretch>
            <a:fillRect/>
          </a:stretch>
        </p:blipFill>
        <p:spPr>
          <a:xfrm>
            <a:off x="6333591" y="2029968"/>
            <a:ext cx="5025999" cy="2724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78727" y="5010912"/>
            <a:ext cx="365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3AF99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7911" y="5029200"/>
            <a:ext cx="48065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F1F2F3"/>
                </a:solidFill>
                <a:latin typeface="Georgia"/>
              </a:rPr>
              <a:t>Le planning hebdomadaire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7911" y="5330952"/>
            <a:ext cx="48065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B4B8BD"/>
                </a:solidFill>
                <a:latin typeface="Segoe UI"/>
              </a:rPr>
              <a:t>Le passage de chaque quartier, jour par jour, avec son collecteur. Une tournée sans collecteur affecté ne partira pas — l’écran le dit.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LE CŒUR FINANCIER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La redevance devient traçable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4B8BD"/>
                </a:solidFill>
                <a:latin typeface="Segoe UI"/>
              </a:rPr>
              <a:t>Le moteur de facturation tourne seul. La mairie n’a plus à tenir un cahier, elle a un tableau de recouvrement.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2304288"/>
            <a:ext cx="109728" cy="109728"/>
          </a:xfrm>
          <a:prstGeom prst="ellipse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85416"/>
            <a:ext cx="63823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1F2F3"/>
                </a:solidFill>
                <a:latin typeface="Georgia"/>
              </a:rPr>
              <a:t>L’échéance naît toute seule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2496312"/>
            <a:ext cx="601656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Chaque nuit, pour chaque abonnement actif, l’échéance du mois est posée.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88920"/>
            <a:ext cx="6382329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3035808"/>
            <a:ext cx="109728" cy="109728"/>
          </a:xfrm>
          <a:prstGeom prst="ellipse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2916936"/>
            <a:ext cx="63823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1F2F3"/>
                </a:solidFill>
                <a:latin typeface="Georgia"/>
              </a:rPr>
              <a:t>Le premier mois est au prorata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3227832"/>
            <a:ext cx="601656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On ne fait pas payer un mois entier à qui souscrit le 22.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520440"/>
            <a:ext cx="6382329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3767328"/>
            <a:ext cx="109728" cy="109728"/>
          </a:xfrm>
          <a:prstGeom prst="ellipse">
            <a:avLst/>
          </a:prstGeom>
          <a:solidFill>
            <a:srgbClr val="E8B9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3648456"/>
            <a:ext cx="63823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1F2F3"/>
                </a:solidFill>
                <a:latin typeface="Georgia"/>
              </a:rPr>
              <a:t>Le retard porte pénalité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959352"/>
            <a:ext cx="601656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Gravée en base, annulable par la mairie, jamais recalculée dans le dos.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51960"/>
            <a:ext cx="6382329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4498848"/>
            <a:ext cx="109728" cy="109728"/>
          </a:xfrm>
          <a:prstGeom prst="ellipse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36" y="4379976"/>
            <a:ext cx="63823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1F2F3"/>
                </a:solidFill>
                <a:latin typeface="Georgia"/>
              </a:rPr>
              <a:t>Le versement s’impute seul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" y="4690872"/>
            <a:ext cx="601656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La plus ancienne échéance d’abord ; le trop-perçu devient une avance.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983480"/>
            <a:ext cx="6382329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230368"/>
            <a:ext cx="109728" cy="109728"/>
          </a:xfrm>
          <a:prstGeom prst="ellipse">
            <a:avLst/>
          </a:prstGeom>
          <a:solidFill>
            <a:srgbClr val="7BB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5111496"/>
            <a:ext cx="63823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1F2F3"/>
                </a:solidFill>
                <a:latin typeface="Georgia"/>
              </a:rPr>
              <a:t>Le recouvrement se 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5422392"/>
            <a:ext cx="601656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Qui doit quoi, depuis quand, par quartier et par foyer.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62489" y="2185416"/>
            <a:ext cx="3751966" cy="3218688"/>
          </a:xfrm>
          <a:prstGeom prst="roundRect">
            <a:avLst>
              <a:gd name="adj" fmla="val 3125"/>
            </a:avLst>
          </a:prstGeom>
          <a:solidFill>
            <a:srgbClr val="22252A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28249" y="2514600"/>
            <a:ext cx="30204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 spc="240">
                <a:solidFill>
                  <a:srgbClr val="9AA0A6"/>
                </a:solidFill>
                <a:latin typeface="Segoe UI"/>
              </a:rPr>
              <a:t>CE QUE LA MAIRIE VOIT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28249" y="2843784"/>
            <a:ext cx="3020446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249" y="3099816"/>
            <a:ext cx="183172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B4B8BD"/>
                </a:solidFill>
                <a:latin typeface="Segoe UI"/>
              </a:rPr>
              <a:t>Foyers à jour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1375" y="3026664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2100" b="0" i="0">
                <a:solidFill>
                  <a:srgbClr val="35C9B1"/>
                </a:solidFill>
                <a:latin typeface="Consolas"/>
              </a:rPr>
              <a:t>184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249" y="3557016"/>
            <a:ext cx="183172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B4B8BD"/>
                </a:solidFill>
                <a:latin typeface="Segoe UI"/>
              </a:rPr>
              <a:t>Foyers en retard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1375" y="3483864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2100" b="0" i="0">
                <a:solidFill>
                  <a:srgbClr val="E8B957"/>
                </a:solidFill>
                <a:latin typeface="Consolas"/>
              </a:rPr>
              <a:t>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249" y="4014216"/>
            <a:ext cx="183172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B4B8BD"/>
                </a:solidFill>
                <a:latin typeface="Segoe UI"/>
              </a:rPr>
              <a:t>Encaissé ce mois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1375" y="3941064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2100" b="0" i="0">
                <a:solidFill>
                  <a:srgbClr val="83AF99"/>
                </a:solidFill>
                <a:latin typeface="Consolas"/>
              </a:rPr>
              <a:t>4,2 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8249" y="4471416"/>
            <a:ext cx="183172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B4B8BD"/>
                </a:solidFill>
                <a:latin typeface="Segoe UI"/>
              </a:rPr>
              <a:t>Reste à recouvrer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1375" y="4398264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2100" b="0" i="0">
                <a:solidFill>
                  <a:srgbClr val="FF7B85"/>
                </a:solidFill>
                <a:latin typeface="Consolas"/>
              </a:rPr>
              <a:t>890 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28249" y="4892040"/>
            <a:ext cx="3020446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28249" y="5020056"/>
            <a:ext cx="30204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Segoe UI"/>
              </a:rPr>
              <a:t>Montants en GNF · données d’illustration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CONFIANCE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Chacun ne voit que ce qui le regarde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92224"/>
            <a:ext cx="5154015" cy="1938528"/>
          </a:xfrm>
          <a:prstGeom prst="roundRect">
            <a:avLst>
              <a:gd name="adj" fmla="val 5188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61288" y="2103120"/>
            <a:ext cx="43859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Le cloisonnement est dans la base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1288" y="2560320"/>
            <a:ext cx="1005840" cy="25400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2724912"/>
            <a:ext cx="43859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Les droits sont appliqués par le serveur de données lui-même. Un compte qui contournerait l’application se ferait refuser la requête, ligne par ligne.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0439" y="1792224"/>
            <a:ext cx="5154015" cy="1938528"/>
          </a:xfrm>
          <a:prstGeom prst="roundRect">
            <a:avLst>
              <a:gd name="adj" fmla="val 5188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44487" y="2103120"/>
            <a:ext cx="43859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À chacun son périmètre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4487" y="2560320"/>
            <a:ext cx="1005840" cy="25400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4487" y="2724912"/>
            <a:ext cx="43859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Un citoyen ne voit que son foyer. Un collecteur, que ses tournées. Un gérant, que ses quartiers. Une mairie, que sa commune.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50208"/>
            <a:ext cx="5154015" cy="1938528"/>
          </a:xfrm>
          <a:prstGeom prst="roundRect">
            <a:avLst>
              <a:gd name="adj" fmla="val 5188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61288" y="4261104"/>
            <a:ext cx="43859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Rien ne se modifie à la main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1288" y="4718304"/>
            <a:ext cx="1005840" cy="25400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61288" y="4882896"/>
            <a:ext cx="43859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Chaque évolution de la base est un fichier daté, relu et rejouable. L’historique dit qui a changé quoi, quand et pourquoi.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0439" y="3950208"/>
            <a:ext cx="5154015" cy="1938528"/>
          </a:xfrm>
          <a:prstGeom prst="roundRect">
            <a:avLst>
              <a:gd name="adj" fmla="val 5188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44487" y="4261104"/>
            <a:ext cx="43859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Les règles d’argent sont testées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44487" y="4718304"/>
            <a:ext cx="1005840" cy="25400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4487" y="4882896"/>
            <a:ext cx="43859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Prorata, pénalités, imputation des versements, isolation entre communes : des tests automatisés les vérifient avant chaque mise en ligne.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PASSAGE À L’ÉCHELLE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Conçu pour les treize communes de Conakry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4B8BD"/>
                </a:solidFill>
                <a:latin typeface="Segoe UI"/>
              </a:rPr>
              <a:t>Depuis la loi L/2024/003/CNT, la région compte treize communes. Lambanyi est un cas de l’application, pas un cas particulier.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85416"/>
            <a:ext cx="4893118" cy="749808"/>
          </a:xfrm>
          <a:prstGeom prst="roundRect">
            <a:avLst>
              <a:gd name="adj" fmla="val 1341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95528" y="2350008"/>
            <a:ext cx="31750" cy="420624"/>
          </a:xfrm>
          <a:prstGeom prst="rect">
            <a:avLst/>
          </a:prstGeom>
          <a:solidFill>
            <a:srgbClr val="7BB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43444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1F2F3"/>
                </a:solidFill>
                <a:latin typeface="Georgia"/>
              </a:rPr>
              <a:t>Le gouvernorat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624328"/>
            <a:ext cx="43444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Lit et agrège les treize communes. N’écrit rien.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3799" y="2971800"/>
            <a:ext cx="19050" cy="329184"/>
          </a:xfrm>
          <a:prstGeom prst="rect">
            <a:avLst/>
          </a:prstGeom>
          <a:solidFill>
            <a:srgbClr val="424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3337560"/>
            <a:ext cx="4893118" cy="749808"/>
          </a:xfrm>
          <a:prstGeom prst="roundRect">
            <a:avLst>
              <a:gd name="adj" fmla="val 1341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95528" y="3502152"/>
            <a:ext cx="31750" cy="420624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483864"/>
            <a:ext cx="43444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1F2F3"/>
                </a:solidFill>
                <a:latin typeface="Georgia"/>
              </a:rPr>
              <a:t>La mairie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776472"/>
            <a:ext cx="43444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Écrit le quotidien de sa commune, et d’elle seule.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23799" y="4123944"/>
            <a:ext cx="19050" cy="329184"/>
          </a:xfrm>
          <a:prstGeom prst="rect">
            <a:avLst/>
          </a:prstGeom>
          <a:solidFill>
            <a:srgbClr val="424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4489704"/>
            <a:ext cx="4893118" cy="749808"/>
          </a:xfrm>
          <a:prstGeom prst="roundRect">
            <a:avLst>
              <a:gd name="adj" fmla="val 13414"/>
            </a:avLst>
          </a:prstGeom>
          <a:solidFill>
            <a:srgbClr val="1A1C1F"/>
          </a:solidFill>
          <a:ln w="9525">
            <a:solidFill>
              <a:srgbClr val="2E3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95528" y="4654296"/>
            <a:ext cx="31750" cy="420624"/>
          </a:xfrm>
          <a:prstGeom prst="rect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636008"/>
            <a:ext cx="43444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1F2F3"/>
                </a:solidFill>
                <a:latin typeface="Georgia"/>
              </a:rPr>
              <a:t>La PME de collecte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928616"/>
            <a:ext cx="43444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Travaille ses quartiers, à cheval sur plusieurs communes.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04104"/>
            <a:ext cx="48931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1">
                <a:solidFill>
                  <a:srgbClr val="B4B8BD"/>
                </a:solidFill>
                <a:latin typeface="Segoe UI"/>
              </a:rPr>
              <a:t>Une autre région ? On déploie la même instance. Rien à réécrire.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7558" y="2185416"/>
            <a:ext cx="5286896" cy="3017520"/>
          </a:xfrm>
          <a:prstGeom prst="roundRect">
            <a:avLst>
              <a:gd name="adj" fmla="val 2000"/>
            </a:avLst>
          </a:prstGeom>
          <a:solidFill>
            <a:srgbClr val="22252A"/>
          </a:solidFill>
          <a:ln w="9525">
            <a:solidFill>
              <a:srgbClr val="424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237286" y="2267712"/>
            <a:ext cx="73152" cy="73152"/>
          </a:xfrm>
          <a:prstGeom prst="ellipse">
            <a:avLst/>
          </a:prstGeom>
          <a:solidFill>
            <a:srgbClr val="FF7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4446" y="2267712"/>
            <a:ext cx="73152" cy="73152"/>
          </a:xfrm>
          <a:prstGeom prst="ellipse">
            <a:avLst/>
          </a:prstGeom>
          <a:solidFill>
            <a:srgbClr val="E8B9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11606" y="2267712"/>
            <a:ext cx="73152" cy="73152"/>
          </a:xfrm>
          <a:prstGeom prst="ellipse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ommunes.png"/>
          <p:cNvPicPr>
            <a:picLocks noChangeAspect="1"/>
          </p:cNvPicPr>
          <p:nvPr/>
        </p:nvPicPr>
        <p:blipFill>
          <a:blip r:embed="rId2"/>
          <a:srcRect l="18600" t="6000" b="25450"/>
          <a:stretch>
            <a:fillRect/>
          </a:stretch>
        </p:blipFill>
        <p:spPr>
          <a:xfrm>
            <a:off x="6182422" y="2423160"/>
            <a:ext cx="5177168" cy="27249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27558" y="5312664"/>
            <a:ext cx="52868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L’index territorial vu par l’observateur régional : quartiers, foyers, signalements ouverts. Kagbélén et Sanoyah attendent leur découpage.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ÉTAT D’AVANCEMENT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Ce qui est déjà construit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5256" y="1920240"/>
            <a:ext cx="1553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0">
                <a:solidFill>
                  <a:srgbClr val="83AF99"/>
                </a:solidFill>
                <a:latin typeface="Consola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2578608"/>
            <a:ext cx="155341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78125" y="1920240"/>
            <a:ext cx="1553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0">
                <a:solidFill>
                  <a:srgbClr val="83AF99"/>
                </a:solidFill>
                <a:latin typeface="Consolas"/>
              </a:rPr>
              <a:t>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8125" y="2578608"/>
            <a:ext cx="155341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évolutions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de la 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2550109" y="1901952"/>
            <a:ext cx="9525" cy="1115568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0994" y="1920240"/>
            <a:ext cx="1553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0">
                <a:solidFill>
                  <a:srgbClr val="83AF99"/>
                </a:solidFill>
                <a:latin typeface="Consolas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0994" y="2578608"/>
            <a:ext cx="155341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tables de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901952"/>
            <a:ext cx="9525" cy="1115568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863" y="1920240"/>
            <a:ext cx="1553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0">
                <a:solidFill>
                  <a:srgbClr val="83AF99"/>
                </a:solidFill>
                <a:latin typeface="Consolas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863" y="2578608"/>
            <a:ext cx="155341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écrans de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back-office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847" y="1901952"/>
            <a:ext cx="9525" cy="1115568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6732" y="1920240"/>
            <a:ext cx="1553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0">
                <a:solidFill>
                  <a:srgbClr val="83AF99"/>
                </a:solidFill>
                <a:latin typeface="Consolas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6732" y="2578608"/>
            <a:ext cx="155341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suites de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tests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8716" y="1901952"/>
            <a:ext cx="9525" cy="1115568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69601" y="1920240"/>
            <a:ext cx="1553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0">
                <a:solidFill>
                  <a:srgbClr val="83AF99"/>
                </a:solidFill>
                <a:latin typeface="Consolas"/>
              </a:rPr>
              <a:t>211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69601" y="2578608"/>
            <a:ext cx="155341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contributions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AA0A6"/>
                </a:solidFill>
                <a:latin typeface="Segoe UI"/>
              </a:rPr>
              <a:t>versionnées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41585" y="1901952"/>
            <a:ext cx="9525" cy="1115568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163824"/>
            <a:ext cx="10637215" cy="12700"/>
          </a:xfrm>
          <a:prstGeom prst="rect">
            <a:avLst/>
          </a:prstGeom>
          <a:solidFill>
            <a:srgbClr val="424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93592"/>
            <a:ext cx="109728" cy="109728"/>
          </a:xfrm>
          <a:prstGeom prst="ellipse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349300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1F2F3"/>
                </a:solidFill>
                <a:latin typeface="Georgia"/>
              </a:rPr>
              <a:t>L’application mobile est compilée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511296"/>
            <a:ext cx="5973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Installable sur téléphone Android depuis le 8 septembre 2026. Les trois rôles — citoyen, collecteur, gérant — sont utilisables de bout en bout.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" y="4471416"/>
            <a:ext cx="109728" cy="109728"/>
          </a:xfrm>
          <a:prstGeom prst="ellipse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437083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1F2F3"/>
                </a:solidFill>
                <a:latin typeface="Georgia"/>
              </a:rPr>
              <a:t>Le back-office web tourne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4389120"/>
            <a:ext cx="5973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Les douze modules sont ouverts, filtrables, exportables. La navigation s’adapte automatiquement au rôle du compte connecté.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5349240"/>
            <a:ext cx="109728" cy="109728"/>
          </a:xfrm>
          <a:prstGeom prst="ellipse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88136" y="5248656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1F2F3"/>
                </a:solidFill>
                <a:latin typeface="Georgia"/>
              </a:rPr>
              <a:t>La base porte déjà la région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5266944"/>
            <a:ext cx="5973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B4B8BD"/>
                </a:solidFill>
                <a:latin typeface="Segoe UI"/>
              </a:rPr>
              <a:t>Les treize communes, leur référentiel de quartiers issu des listes officielles, et le cloisonnement entre elles.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 i="0" spc="250">
                <a:solidFill>
                  <a:srgbClr val="9AA0A6"/>
                </a:solidFill>
                <a:latin typeface="Segoe UI"/>
              </a:rPr>
              <a:t>AVANT LE DÉPLOIEMENT RÉEL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2F3"/>
                </a:solidFill>
                <a:latin typeface="Georgia"/>
              </a:rPr>
              <a:t>Ce qu’il reste à faire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4B8BD"/>
                </a:solidFill>
                <a:latin typeface="Segoe UI"/>
              </a:rPr>
              <a:t>Rien de tout cela n’est une inconnue technique : ce sont des branchements et des décisions, pas des recherches.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03704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E8B957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185416"/>
            <a:ext cx="4206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Brancher la vraie API Orange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2203704"/>
            <a:ext cx="5699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Le parcours de paiement est complet de bout en bout, mais la confirmation est aujourd’hui simulée. La bascule vers l’opérateur est déjà prévue dans le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53512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72968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E8B957"/>
                </a:solidFill>
                <a:latin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154680"/>
            <a:ext cx="4206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Le pointage hors réseau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3172968"/>
            <a:ext cx="5699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Le collecteur travaille dans des zones sans couverture. Aujourd’hui un pointage émis sans réseau échoue : la file d’attente locale reste à écrire.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2277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42232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7BBBE4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123944"/>
            <a:ext cx="4206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Le référentiel de deux communes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4142232"/>
            <a:ext cx="5699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Kagbélén et Sanoyah attendent un arrêté officiel listant leurs quartiers. On ne fabrique pas de découpage administratif.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92040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111496"/>
            <a:ext cx="457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7BBBE4"/>
                </a:solidFill>
                <a:latin typeface="Consola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093208"/>
            <a:ext cx="4206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F1F2F3"/>
                </a:solidFill>
                <a:latin typeface="Georgia"/>
              </a:rPr>
              <a:t>Le déploiement et la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5111496"/>
            <a:ext cx="5699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4B8BD"/>
                </a:solidFill>
                <a:latin typeface="Segoe UI"/>
              </a:rPr>
              <a:t>Comptes de la mairie, saisie des points de dépôt réels, impression des codes QR, formation des agents de collecte.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6071616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254496"/>
            <a:ext cx="63823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 spc="120">
                <a:solidFill>
                  <a:srgbClr val="9AA0A6"/>
                </a:solidFill>
                <a:latin typeface="Segoe UI"/>
              </a:rPr>
              <a:t>SICOD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85655" y="6254496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 i="0">
                <a:solidFill>
                  <a:srgbClr val="9AA0A6"/>
                </a:solidFill>
                <a:latin typeface="Consolas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 spc="300">
                <a:solidFill>
                  <a:srgbClr val="83AF99"/>
                </a:solidFill>
                <a:latin typeface="Segoe UI"/>
              </a:rPr>
              <a:t>CE QUE CELA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33856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i="0">
                <a:solidFill>
                  <a:srgbClr val="F1F2F3"/>
                </a:solidFill>
                <a:latin typeface="Georgia"/>
              </a:rPr>
              <a:t>Une commune qui sait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395728"/>
            <a:ext cx="1097280" cy="31750"/>
          </a:xfrm>
          <a:prstGeom prst="rect">
            <a:avLst/>
          </a:prstGeom>
          <a:solidFill>
            <a:srgbClr val="83A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15184"/>
            <a:ext cx="33323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F1F2F3"/>
                </a:solidFill>
                <a:latin typeface="Georgia"/>
              </a:rPr>
              <a:t>La recette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45536"/>
            <a:ext cx="31037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B4B8BD"/>
                </a:solidFill>
                <a:latin typeface="Segoe UI"/>
              </a:rPr>
              <a:t>Chaque foyer porte une échéance. Chaque versement laisse une trace. Le manque à gagner se chiffre, et se recouvre.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395728"/>
            <a:ext cx="1097280" cy="31750"/>
          </a:xfrm>
          <a:prstGeom prst="rect">
            <a:avLst/>
          </a:prstGeom>
          <a:solidFill>
            <a:srgbClr val="35C9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615184"/>
            <a:ext cx="33323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F1F2F3"/>
                </a:solidFill>
                <a:latin typeface="Georgia"/>
              </a:rPr>
              <a:t>Le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9658" y="3145536"/>
            <a:ext cx="31037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B4B8BD"/>
                </a:solidFill>
                <a:latin typeface="Segoe UI"/>
              </a:rPr>
              <a:t>Chaque passage est prouvé. Chaque signalement est suivi jusqu’à sa résolution. Le citoyen a un recours.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2076" y="2395728"/>
            <a:ext cx="1097280" cy="31750"/>
          </a:xfrm>
          <a:prstGeom prst="rect">
            <a:avLst/>
          </a:prstGeom>
          <a:solidFill>
            <a:srgbClr val="7BB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2076" y="2615184"/>
            <a:ext cx="33323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F1F2F3"/>
                </a:solidFill>
                <a:latin typeface="Georgia"/>
              </a:rPr>
              <a:t>La décision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2076" y="3145536"/>
            <a:ext cx="31037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B4B8BD"/>
                </a:solidFill>
                <a:latin typeface="Segoe UI"/>
              </a:rPr>
              <a:t>Le pilotage se fait sur des chiffres remontés du terrain, pas sur des impressions ni des déclarations.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663440"/>
            <a:ext cx="10637215" cy="9525"/>
          </a:xfrm>
          <a:prstGeom prst="rect">
            <a:avLst/>
          </a:prstGeom>
          <a:solidFill>
            <a:srgbClr val="2E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9262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83AF99"/>
                </a:solidFill>
                <a:latin typeface="Georgia"/>
              </a:rPr>
              <a:t>SICOD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4B8BD"/>
                </a:solidFill>
                <a:latin typeface="Segoe UI"/>
              </a:rPr>
              <a:t>Région de Conakry · Merci de votre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